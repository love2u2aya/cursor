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青＝勤務先社保、緑＝配偶者扶養内、赤＝国保＋国年のキツい帯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106万・130万付近で手取りの伸びが鈍るゾーンを確認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扶養内の最高手取り（129万付近）を基準にした実質損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年収を上げても手取りが伸びにくい帯の全体像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参考：旧定義での損額イメージ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参考：旧定義・106〜200万円付近の拡大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税金・社保・配偶者特別控除など、損の構成要素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項目別の損額を比較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手取りを下に、損を上に積み上げた見え方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別レイアウト：手取りと損の対比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夫年収700万世帯での損の内訳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夫700万世帯・項目別比較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夫700万世帯の手取りと損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別レイアウト：700万世帯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夫の年収が上がると妻の損の形も変わる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夫の年収水準ごとに＋50万稼いだときの損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夫＋50万 vs 妻＋50万の損の違い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横軸＝夫年収。会社員は当たり前に損しながら稼いでいる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2026年10月・2027年10月のルール変更の流れ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賃金要件撤廃・週20時間が主軸に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改正前ロジックでの比較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106万・130万の崖（改正前）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短時間ルール対象外・おおよそ週30時間から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10月以降の社保マップ比較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週20時間以上→勤務先社保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当面は週30時間（3/4）が目安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2027年10月〜36人以上も週20時間ルールへ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対象企業の範囲が広がるだけ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51人未満でも週20時間で勤務先社保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35人以下は当面対象外（50人以下と同様）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年収×勤務時間×ゾーンの立体イメージ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3Dマップ・別視点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共働き・働き損ゾーン ミニセミナー</a:t>
            </a:r>
          </a:p>
          <a:p>
            <a:pPr algn="ctr">
              <a:spcBef>
                <a:spcPts val="1600"/>
              </a:spcBef>
              <a:defRPr sz="1800">
                <a:solidFill>
                  <a:srgbClr val="E2E8F0"/>
                </a:solidFill>
              </a:defRPr>
            </a:pPr>
            <a:r>
              <a:t>図解資料まとめ（2026年7月）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今日の4つのポイント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給与収入で社保の土台を決める（10月以降は週20時間が焦点）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複数の収入源でリスクヘッジ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副業も検討（扶養内は合計年収で見る）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目的は税・社保を安くすることではなく、長く働ける自分である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① 働き損ゾーンと手取りのイメージ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働き損ゾーン早見図</a:t>
            </a:r>
          </a:p>
        </p:txBody>
      </p:sp>
      <p:pic>
        <p:nvPicPr>
          <p:cNvPr id="3" name="Picture 2" descr="working_loss_zon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9991"/>
            <a:ext cx="11460175" cy="5400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手取りの推移（年収別）</a:t>
            </a:r>
          </a:p>
        </p:txBody>
      </p:sp>
      <p:pic>
        <p:nvPicPr>
          <p:cNvPr id="3" name="Picture 2" descr="working_loss_zon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34" y="868680"/>
            <a:ext cx="9786027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② 実質損額（扶養内129万基準）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実質損額グラフ（拡大）</a:t>
            </a:r>
          </a:p>
        </p:txBody>
      </p:sp>
      <p:pic>
        <p:nvPicPr>
          <p:cNvPr id="3" name="Picture 2" descr="loss_amount_graph_v2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34" y="868680"/>
            <a:ext cx="9786027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実質損額グラフ（全体）</a:t>
            </a:r>
          </a:p>
        </p:txBody>
      </p:sp>
      <p:pic>
        <p:nvPicPr>
          <p:cNvPr id="3" name="Picture 2" descr="loss_amount_graph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162" y="868680"/>
            <a:ext cx="6719371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損額グラフ（旧定義・全体）</a:t>
            </a:r>
          </a:p>
        </p:txBody>
      </p:sp>
      <p:pic>
        <p:nvPicPr>
          <p:cNvPr id="3" name="Picture 2" descr="loss_amoun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0" y="868680"/>
            <a:ext cx="1049073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損額グラフ（旧定義・拡大）</a:t>
            </a:r>
          </a:p>
        </p:txBody>
      </p:sp>
      <p:pic>
        <p:nvPicPr>
          <p:cNvPr id="3" name="Picture 2" descr="loss_amount_graph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98" y="868680"/>
            <a:ext cx="1132869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③ 損の内訳と世帯比較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損の内訳（積み上げ）世帯年収500万</a:t>
            </a:r>
          </a:p>
        </p:txBody>
      </p:sp>
      <p:pic>
        <p:nvPicPr>
          <p:cNvPr id="3" name="Picture 2" descr="loss_breakdown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60" y="868680"/>
            <a:ext cx="966537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損の内訳（棒グラフ）世帯年収500万</a:t>
            </a:r>
          </a:p>
        </p:txBody>
      </p:sp>
      <p:pic>
        <p:nvPicPr>
          <p:cNvPr id="3" name="Picture 2" descr="loss_breakdow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03" y="868680"/>
            <a:ext cx="837588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手取り下・損上（積み上げ）世帯500万</a:t>
            </a:r>
          </a:p>
        </p:txBody>
      </p:sp>
      <p:pic>
        <p:nvPicPr>
          <p:cNvPr id="3" name="Picture 2" descr="loss_breakdown_stack_500_take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03" y="868680"/>
            <a:ext cx="9070488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手取り下・損上（下向き）世帯500万</a:t>
            </a:r>
          </a:p>
        </p:txBody>
      </p:sp>
      <p:pic>
        <p:nvPicPr>
          <p:cNvPr id="3" name="Picture 2" descr="loss_breakdown_stack_500_takehome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03" y="868680"/>
            <a:ext cx="9070488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損の内訳（積み上げ）世帯年収700万</a:t>
            </a:r>
          </a:p>
        </p:txBody>
      </p:sp>
      <p:pic>
        <p:nvPicPr>
          <p:cNvPr id="3" name="Picture 2" descr="loss_breakdown_stack_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60" y="868680"/>
            <a:ext cx="966537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損の内訳（棒グラフ）世帯年収700万</a:t>
            </a:r>
          </a:p>
        </p:txBody>
      </p:sp>
      <p:pic>
        <p:nvPicPr>
          <p:cNvPr id="3" name="Picture 2" descr="loss_breakdown_bars_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830" y="868680"/>
            <a:ext cx="846203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手取り下・損上（積み上げ）世帯700万</a:t>
            </a:r>
          </a:p>
        </p:txBody>
      </p:sp>
      <p:pic>
        <p:nvPicPr>
          <p:cNvPr id="3" name="Picture 2" descr="loss_breakdown_stack_700_take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03" y="868680"/>
            <a:ext cx="9070488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手取り下・損上（下向き）世帯700万</a:t>
            </a:r>
          </a:p>
        </p:txBody>
      </p:sp>
      <p:pic>
        <p:nvPicPr>
          <p:cNvPr id="3" name="Picture 2" descr="loss_breakdown_stack_700_takehome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03" y="868680"/>
            <a:ext cx="9070488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世帯500万 vs 700万の比較</a:t>
            </a:r>
          </a:p>
        </p:txBody>
      </p:sp>
      <p:pic>
        <p:nvPicPr>
          <p:cNvPr id="3" name="Picture 2" descr="loss_500_vs_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31" y="868680"/>
            <a:ext cx="1131843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④ 誰が＋50万・＋100万稼ぐと損が変わるか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年収＋50万の損（夫年収別）</a:t>
            </a:r>
          </a:p>
        </p:txBody>
      </p:sp>
      <p:pic>
        <p:nvPicPr>
          <p:cNvPr id="3" name="Picture 2" descr="plus50_loss_by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980" y="868680"/>
            <a:ext cx="672173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＋50万損のオーバーレイ比較</a:t>
            </a:r>
          </a:p>
        </p:txBody>
      </p:sp>
      <p:pic>
        <p:nvPicPr>
          <p:cNvPr id="3" name="Picture 2" descr="plus50_loss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76" y="868680"/>
            <a:ext cx="10430342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夫が＋100万稼いだときの損</a:t>
            </a:r>
          </a:p>
        </p:txBody>
      </p:sp>
      <p:pic>
        <p:nvPicPr>
          <p:cNvPr id="3" name="Picture 2" descr="husband_plus100_los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84" y="868680"/>
            <a:ext cx="9790726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1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⑤ 社会保険マップ（時系列と企業規模）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社保対象ラインの時系列</a:t>
            </a:r>
          </a:p>
        </p:txBody>
      </p:sp>
      <p:pic>
        <p:nvPicPr>
          <p:cNvPr id="3" name="Picture 2" descr="si_threshold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98511"/>
            <a:ext cx="11460175" cy="53638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51人以上：9月まで vs 10月以降（★重要）</a:t>
            </a:r>
          </a:p>
        </p:txBody>
      </p:sp>
      <p:pic>
        <p:nvPicPr>
          <p:cNvPr id="3" name="Picture 2" descr="si_map_51plus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46" y="868680"/>
            <a:ext cx="1086680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〜2026年9月：51人以上 vs 50人以下</a:t>
            </a:r>
          </a:p>
        </p:txBody>
      </p:sp>
      <p:pic>
        <p:nvPicPr>
          <p:cNvPr id="3" name="Picture 2" descr="si_map_compare_until_sep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46" y="868680"/>
            <a:ext cx="1086680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〜2026年9月：51人以上</a:t>
            </a:r>
          </a:p>
        </p:txBody>
      </p:sp>
      <p:pic>
        <p:nvPicPr>
          <p:cNvPr id="3" name="Picture 2" descr="si_map_51plus_until_sep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01" y="868680"/>
            <a:ext cx="838029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〜2026年9月：50人以下</a:t>
            </a:r>
          </a:p>
        </p:txBody>
      </p:sp>
      <p:pic>
        <p:nvPicPr>
          <p:cNvPr id="3" name="Picture 2" descr="si_map_50orless_until_sep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01" y="868680"/>
            <a:ext cx="838029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2026年10月以降：51人以上 vs 50人以下</a:t>
            </a:r>
          </a:p>
        </p:txBody>
      </p:sp>
      <p:pic>
        <p:nvPicPr>
          <p:cNvPr id="3" name="Picture 2" descr="si_map_compare_oct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46" y="868680"/>
            <a:ext cx="1086680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2026年10月以降：51人以上</a:t>
            </a:r>
          </a:p>
        </p:txBody>
      </p:sp>
      <p:pic>
        <p:nvPicPr>
          <p:cNvPr id="3" name="Picture 2" descr="si_map_51plus_oct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01" y="868680"/>
            <a:ext cx="838029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2026年10月以降：50人以下</a:t>
            </a:r>
          </a:p>
        </p:txBody>
      </p:sp>
      <p:pic>
        <p:nvPicPr>
          <p:cNvPr id="3" name="Picture 2" descr="si_map_50orless_oct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01" y="868680"/>
            <a:ext cx="838029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地図の形は同じ・対象範囲だけ拡大（★重要）</a:t>
            </a:r>
          </a:p>
        </p:txBody>
      </p:sp>
      <p:pic>
        <p:nvPicPr>
          <p:cNvPr id="3" name="Picture 2" descr="si_map_scope_expand_2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46" y="868680"/>
            <a:ext cx="1086680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2027年10月以降：36人以上 vs 35人以下</a:t>
            </a:r>
          </a:p>
        </p:txBody>
      </p:sp>
      <p:pic>
        <p:nvPicPr>
          <p:cNvPr id="3" name="Picture 2" descr="si_map_compare_from_oct2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46" y="868680"/>
            <a:ext cx="1086680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2027年10月以降：36人以上</a:t>
            </a:r>
          </a:p>
        </p:txBody>
      </p:sp>
      <p:pic>
        <p:nvPicPr>
          <p:cNvPr id="3" name="Picture 2" descr="si_map_36plus_from_oct2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01" y="868680"/>
            <a:ext cx="838029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2027年10月以降：35人以下</a:t>
            </a:r>
          </a:p>
        </p:txBody>
      </p:sp>
      <p:pic>
        <p:nvPicPr>
          <p:cNvPr id="3" name="Picture 2" descr="si_map_35orless_from_oct2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01" y="868680"/>
            <a:ext cx="838029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社保マップ3D版（2026年10月以降）</a:t>
            </a:r>
          </a:p>
        </p:txBody>
      </p:sp>
      <p:pic>
        <p:nvPicPr>
          <p:cNvPr id="3" name="Picture 2" descr="si_map_3d_oct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856" y="868680"/>
            <a:ext cx="6035983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社保マップ3D版（別アングル）</a:t>
            </a:r>
          </a:p>
        </p:txBody>
      </p:sp>
      <p:pic>
        <p:nvPicPr>
          <p:cNvPr id="3" name="Picture 2" descr="si_map_3d_oct2026_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370" y="868680"/>
            <a:ext cx="58469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まとめ：長く働ける自分をつくる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ルールは変わっても、見る柱は少数（社保・扶養・国保国年）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「働き損」を恐れすぎず、ご主人も損しながら稼いでいる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ただし中途半端は危険 → 壁の手前か向こう側を選ぶ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実感ライン：106→176万、130→200万（年+70万≒月+6万）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目的は税・社保を安くすることではなく、生涯収入・年金を守ること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